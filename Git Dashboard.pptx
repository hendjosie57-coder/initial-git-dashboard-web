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1"/>
  </p:notesMasterIdLst>
  <p:sldIdLst>
    <p:sldId id="256" r:id="rId2"/>
    <p:sldId id="257" r:id="rId3"/>
    <p:sldId id="260" r:id="rId4"/>
    <p:sldId id="278" r:id="rId5"/>
    <p:sldId id="281" r:id="rId6"/>
    <p:sldId id="280" r:id="rId7"/>
    <p:sldId id="259" r:id="rId8"/>
    <p:sldId id="263" r:id="rId9"/>
    <p:sldId id="276" r:id="rId10"/>
  </p:sldIdLst>
  <p:sldSz cx="9144000" cy="5143500" type="screen16x9"/>
  <p:notesSz cx="6858000" cy="9144000"/>
  <p:embeddedFontLst>
    <p:embeddedFont>
      <p:font typeface="Aldrich" panose="020B0604020202020204" charset="0"/>
      <p:regular r:id="rId12"/>
    </p:embeddedFont>
    <p:embeddedFont>
      <p:font typeface="Nunito Light" pitchFamily="2" charset="0"/>
      <p:regular r:id="rId13"/>
      <p: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3E25C-6535-431A-938F-C50B8DA5FFEA}">
  <a:tblStyle styleId="{4A43E25C-6535-431A-938F-C50B8DA5F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9C7A55-F312-47C5-8126-3D59796A250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644" autoAdjust="0"/>
  </p:normalViewPr>
  <p:slideViewPr>
    <p:cSldViewPr snapToGrid="0">
      <p:cViewPr varScale="1">
        <p:scale>
          <a:sx n="99" d="100"/>
          <a:sy n="99" d="100"/>
        </p:scale>
        <p:origin x="9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0802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889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8471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517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0" name="Google Shape;10;p2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244925" y="1205975"/>
            <a:ext cx="3542100" cy="30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318725" y="3074550"/>
            <a:ext cx="2497200" cy="1044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19" name="Google Shape;19;p2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2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oogle Shape;36;p4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7" name="Google Shape;37;p4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9" name="Google Shape;39;p4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40" name="Google Shape;40;p4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3" name="Google Shape;43;p4"/>
          <p:cNvSpPr txBox="1">
            <a:spLocks noGrp="1"/>
          </p:cNvSpPr>
          <p:nvPr>
            <p:ph type="body" idx="1"/>
          </p:nvPr>
        </p:nvSpPr>
        <p:spPr>
          <a:xfrm>
            <a:off x="720000" y="1400099"/>
            <a:ext cx="77040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46" name="Google Shape;46;p4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" name="Google Shape;47;p4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7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78" name="Google Shape;78;p7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9" name="Google Shape;79;p7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80" name="Google Shape;80;p7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81" name="Google Shape;81;p7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2" name="Google Shape;82;p7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83" name="Google Shape;83;p7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713225" y="885888"/>
            <a:ext cx="4294800" cy="10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713225" y="1887913"/>
            <a:ext cx="4294800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7"/>
          <p:cNvSpPr>
            <a:spLocks noGrp="1"/>
          </p:cNvSpPr>
          <p:nvPr>
            <p:ph type="pic" idx="2"/>
          </p:nvPr>
        </p:nvSpPr>
        <p:spPr>
          <a:xfrm>
            <a:off x="5237825" y="1001375"/>
            <a:ext cx="2818200" cy="329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87" name="Google Shape;87;p7"/>
          <p:cNvGrpSpPr/>
          <p:nvPr/>
        </p:nvGrpSpPr>
        <p:grpSpPr>
          <a:xfrm>
            <a:off x="496925" y="855351"/>
            <a:ext cx="8150150" cy="3748650"/>
            <a:chOff x="496925" y="855351"/>
            <a:chExt cx="8150150" cy="3748650"/>
          </a:xfrm>
        </p:grpSpPr>
        <p:sp>
          <p:nvSpPr>
            <p:cNvPr id="88" name="Google Shape;88;p7"/>
            <p:cNvSpPr txBox="1"/>
            <p:nvPr/>
          </p:nvSpPr>
          <p:spPr>
            <a:xfrm>
              <a:off x="8430775" y="8553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1010010101001010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9" name="Google Shape;89;p7"/>
            <p:cNvSpPr txBox="1"/>
            <p:nvPr/>
          </p:nvSpPr>
          <p:spPr>
            <a:xfrm>
              <a:off x="496925" y="2046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1001010101010100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8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92" name="Google Shape;92;p8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94" name="Google Shape;94;p8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95" name="Google Shape;95;p8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8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98" name="Google Shape;9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9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101" name="Google Shape;101;p9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103" name="Google Shape;103;p9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104" name="Google Shape;104;p9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5" name="Google Shape;105;p9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06" name="Google Shape;106;p9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07" name="Google Shape;10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9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19" name="Google Shape;219;p19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21" name="Google Shape;221;p19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22" name="Google Shape;222;p19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25" name="Google Shape;225;p19"/>
          <p:cNvSpPr txBox="1">
            <a:spLocks noGrp="1"/>
          </p:cNvSpPr>
          <p:nvPr>
            <p:ph type="body" idx="1"/>
          </p:nvPr>
        </p:nvSpPr>
        <p:spPr>
          <a:xfrm>
            <a:off x="713225" y="1398725"/>
            <a:ext cx="5804100" cy="26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7" name="Google Shape;227;p19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228" name="Google Shape;228;p19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0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232" name="Google Shape;232;p20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34" name="Google Shape;234;p20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6" name="Google Shape;236;p20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37" name="Google Shape;237;p20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38" name="Google Shape;238;p20"/>
          <p:cNvSpPr txBox="1">
            <a:spLocks noGrp="1"/>
          </p:cNvSpPr>
          <p:nvPr>
            <p:ph type="subTitle" idx="1"/>
          </p:nvPr>
        </p:nvSpPr>
        <p:spPr>
          <a:xfrm>
            <a:off x="851225" y="3081200"/>
            <a:ext cx="2348100" cy="12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2"/>
          </p:nvPr>
        </p:nvSpPr>
        <p:spPr>
          <a:xfrm>
            <a:off x="3397950" y="3081200"/>
            <a:ext cx="2348100" cy="12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0"/>
          <p:cNvSpPr txBox="1">
            <a:spLocks noGrp="1"/>
          </p:cNvSpPr>
          <p:nvPr>
            <p:ph type="subTitle" idx="3"/>
          </p:nvPr>
        </p:nvSpPr>
        <p:spPr>
          <a:xfrm>
            <a:off x="5944675" y="3081201"/>
            <a:ext cx="2348100" cy="12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0"/>
          <p:cNvSpPr txBox="1">
            <a:spLocks noGrp="1"/>
          </p:cNvSpPr>
          <p:nvPr>
            <p:ph type="subTitle" idx="4"/>
          </p:nvPr>
        </p:nvSpPr>
        <p:spPr>
          <a:xfrm>
            <a:off x="851225" y="2256425"/>
            <a:ext cx="2348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42" name="Google Shape;242;p20"/>
          <p:cNvSpPr txBox="1">
            <a:spLocks noGrp="1"/>
          </p:cNvSpPr>
          <p:nvPr>
            <p:ph type="subTitle" idx="5"/>
          </p:nvPr>
        </p:nvSpPr>
        <p:spPr>
          <a:xfrm>
            <a:off x="3397954" y="2256425"/>
            <a:ext cx="2348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43" name="Google Shape;243;p20"/>
          <p:cNvSpPr txBox="1">
            <a:spLocks noGrp="1"/>
          </p:cNvSpPr>
          <p:nvPr>
            <p:ph type="subTitle" idx="6"/>
          </p:nvPr>
        </p:nvSpPr>
        <p:spPr>
          <a:xfrm>
            <a:off x="5944675" y="2256425"/>
            <a:ext cx="2348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Aldrich"/>
              <a:buNone/>
              <a:defRPr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245" name="Google Shape;245;p20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246" name="Google Shape;246;p20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4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08" name="Google Shape;308;p24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10" name="Google Shape;310;p24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311" name="Google Shape;311;p24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2" name="Google Shape;312;p24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13" name="Google Shape;313;p24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14" name="Google Shape;314;p24"/>
          <p:cNvGrpSpPr/>
          <p:nvPr/>
        </p:nvGrpSpPr>
        <p:grpSpPr>
          <a:xfrm>
            <a:off x="496925" y="1007751"/>
            <a:ext cx="8150150" cy="3215250"/>
            <a:chOff x="496925" y="1007751"/>
            <a:chExt cx="8150150" cy="3215250"/>
          </a:xfrm>
        </p:grpSpPr>
        <p:sp>
          <p:nvSpPr>
            <p:cNvPr id="315" name="Google Shape;315;p24"/>
            <p:cNvSpPr txBox="1"/>
            <p:nvPr/>
          </p:nvSpPr>
          <p:spPr>
            <a:xfrm>
              <a:off x="8430775" y="100775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1100101010101110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6" name="Google Shape;316;p24"/>
            <p:cNvSpPr txBox="1"/>
            <p:nvPr/>
          </p:nvSpPr>
          <p:spPr>
            <a:xfrm>
              <a:off x="496925" y="16652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101010111000111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25"/>
          <p:cNvGrpSpPr/>
          <p:nvPr/>
        </p:nvGrpSpPr>
        <p:grpSpPr>
          <a:xfrm>
            <a:off x="346800" y="255600"/>
            <a:ext cx="8450400" cy="4632300"/>
            <a:chOff x="346800" y="255600"/>
            <a:chExt cx="8450400" cy="4632300"/>
          </a:xfrm>
        </p:grpSpPr>
        <p:sp>
          <p:nvSpPr>
            <p:cNvPr id="319" name="Google Shape;319;p25"/>
            <p:cNvSpPr/>
            <p:nvPr/>
          </p:nvSpPr>
          <p:spPr>
            <a:xfrm>
              <a:off x="346800" y="255600"/>
              <a:ext cx="8450400" cy="4632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346800" y="255600"/>
              <a:ext cx="8450400" cy="426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321" name="Google Shape;321;p25"/>
            <p:cNvGrpSpPr/>
            <p:nvPr/>
          </p:nvGrpSpPr>
          <p:grpSpPr>
            <a:xfrm>
              <a:off x="8111150" y="433000"/>
              <a:ext cx="426200" cy="106500"/>
              <a:chOff x="1739575" y="4109150"/>
              <a:chExt cx="426200" cy="106500"/>
            </a:xfrm>
          </p:grpSpPr>
          <p:sp>
            <p:nvSpPr>
              <p:cNvPr id="322" name="Google Shape;322;p25"/>
              <p:cNvSpPr/>
              <p:nvPr/>
            </p:nvSpPr>
            <p:spPr>
              <a:xfrm>
                <a:off x="17395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3" name="Google Shape;323;p25"/>
              <p:cNvSpPr/>
              <p:nvPr/>
            </p:nvSpPr>
            <p:spPr>
              <a:xfrm>
                <a:off x="189942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324" name="Google Shape;324;p25"/>
              <p:cNvSpPr/>
              <p:nvPr/>
            </p:nvSpPr>
            <p:spPr>
              <a:xfrm>
                <a:off x="2059275" y="4109150"/>
                <a:ext cx="106500" cy="1065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325" name="Google Shape;325;p25"/>
          <p:cNvGrpSpPr/>
          <p:nvPr/>
        </p:nvGrpSpPr>
        <p:grpSpPr>
          <a:xfrm>
            <a:off x="496925" y="1436601"/>
            <a:ext cx="8150150" cy="3151497"/>
            <a:chOff x="496925" y="1436601"/>
            <a:chExt cx="8150150" cy="3151497"/>
          </a:xfrm>
        </p:grpSpPr>
        <p:sp>
          <p:nvSpPr>
            <p:cNvPr id="326" name="Google Shape;326;p25"/>
            <p:cNvSpPr txBox="1"/>
            <p:nvPr/>
          </p:nvSpPr>
          <p:spPr>
            <a:xfrm>
              <a:off x="8430775" y="2030298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1010010010110111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7" name="Google Shape;327;p25"/>
            <p:cNvSpPr txBox="1"/>
            <p:nvPr/>
          </p:nvSpPr>
          <p:spPr>
            <a:xfrm>
              <a:off x="496925" y="1436601"/>
              <a:ext cx="216300" cy="255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1001010100101010</a:t>
              </a:r>
              <a:endParaRPr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8" r:id="rId6"/>
    <p:sldLayoutId id="2147483665" r:id="rId7"/>
    <p:sldLayoutId id="2147483666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9"/>
          <p:cNvGrpSpPr/>
          <p:nvPr/>
        </p:nvGrpSpPr>
        <p:grpSpPr>
          <a:xfrm>
            <a:off x="6009713" y="1427773"/>
            <a:ext cx="1625700" cy="1625700"/>
            <a:chOff x="4653650" y="1256600"/>
            <a:chExt cx="1625700" cy="1625700"/>
          </a:xfrm>
        </p:grpSpPr>
        <p:sp>
          <p:nvSpPr>
            <p:cNvPr id="339" name="Google Shape;339;p29"/>
            <p:cNvSpPr/>
            <p:nvPr/>
          </p:nvSpPr>
          <p:spPr>
            <a:xfrm>
              <a:off x="4653650" y="1256600"/>
              <a:ext cx="1625700" cy="1625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4653650" y="1256600"/>
              <a:ext cx="1625700" cy="159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41" name="Google Shape;341;p29"/>
          <p:cNvSpPr txBox="1">
            <a:spLocks noGrp="1"/>
          </p:cNvSpPr>
          <p:nvPr>
            <p:ph type="ctrTitle"/>
          </p:nvPr>
        </p:nvSpPr>
        <p:spPr>
          <a:xfrm>
            <a:off x="988219" y="1640876"/>
            <a:ext cx="5186156" cy="11478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Git Dashboard:</a:t>
            </a:r>
            <a:endParaRPr sz="2000" i="1" dirty="0"/>
          </a:p>
        </p:txBody>
      </p:sp>
      <p:sp>
        <p:nvSpPr>
          <p:cNvPr id="343" name="Google Shape;343;p29"/>
          <p:cNvSpPr txBox="1">
            <a:spLocks noGrp="1"/>
          </p:cNvSpPr>
          <p:nvPr>
            <p:ph type="subTitle" idx="1"/>
          </p:nvPr>
        </p:nvSpPr>
        <p:spPr>
          <a:xfrm>
            <a:off x="5488782" y="3000688"/>
            <a:ext cx="1797095" cy="104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/>
              <a:t>I</a:t>
            </a:r>
            <a:r>
              <a:rPr lang="en" sz="1100" dirty="0"/>
              <a:t>nteractive, assistive, and always up to date.</a:t>
            </a:r>
            <a:endParaRPr sz="1100" dirty="0"/>
          </a:p>
        </p:txBody>
      </p:sp>
      <p:sp>
        <p:nvSpPr>
          <p:cNvPr id="344" name="Google Shape;344;p29"/>
          <p:cNvSpPr/>
          <p:nvPr/>
        </p:nvSpPr>
        <p:spPr>
          <a:xfrm>
            <a:off x="5488844" y="2841088"/>
            <a:ext cx="1797033" cy="15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341;p29"/>
          <p:cNvSpPr txBox="1">
            <a:spLocks/>
          </p:cNvSpPr>
          <p:nvPr/>
        </p:nvSpPr>
        <p:spPr>
          <a:xfrm>
            <a:off x="414173" y="262441"/>
            <a:ext cx="7778131" cy="42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4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n-GB" sz="1400" dirty="0"/>
              <a:t>BHAVAN’S GANGABUX KANORIA VIDYAMANDIR</a:t>
            </a:r>
          </a:p>
        </p:txBody>
      </p:sp>
      <p:sp>
        <p:nvSpPr>
          <p:cNvPr id="10" name="Google Shape;341;p29"/>
          <p:cNvSpPr txBox="1">
            <a:spLocks/>
          </p:cNvSpPr>
          <p:nvPr/>
        </p:nvSpPr>
        <p:spPr>
          <a:xfrm>
            <a:off x="1062910" y="3622525"/>
            <a:ext cx="3362890" cy="42216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4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drich"/>
              <a:buNone/>
              <a:defRPr sz="5200" b="1" i="0" u="none" strike="noStrike" cap="none">
                <a:solidFill>
                  <a:srgbClr val="191919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en-GB" sz="1400" dirty="0" err="1"/>
              <a:t>Anushka</a:t>
            </a:r>
            <a:r>
              <a:rPr lang="en-GB" sz="1400" dirty="0"/>
              <a:t> </a:t>
            </a:r>
            <a:r>
              <a:rPr lang="en-GB" sz="1400" dirty="0" err="1"/>
              <a:t>Mitra</a:t>
            </a:r>
            <a:r>
              <a:rPr lang="en-GB" sz="1400" dirty="0"/>
              <a:t> | </a:t>
            </a:r>
            <a:r>
              <a:rPr lang="en-GB" sz="1400" dirty="0" err="1"/>
              <a:t>Chandramouli</a:t>
            </a:r>
            <a:r>
              <a:rPr lang="en-GB" sz="1400" dirty="0"/>
              <a:t> Das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036" y="1741387"/>
            <a:ext cx="946841" cy="9468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2910" y="2557905"/>
            <a:ext cx="33890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chemeClr val="tx1"/>
                </a:solidFill>
                <a:latin typeface="Aldrich" panose="020B0604020202020204" charset="0"/>
              </a:rPr>
              <a:t>a site for </a:t>
            </a:r>
            <a:r>
              <a:rPr lang="en-GB" sz="2400" b="1" i="1" dirty="0">
                <a:solidFill>
                  <a:schemeClr val="tx1"/>
                </a:solidFill>
                <a:latin typeface="Aldrich" panose="020B0604020202020204" charset="0"/>
              </a:rPr>
              <a:t>developers</a:t>
            </a:r>
            <a:endParaRPr lang="en-IN" sz="2400" b="1" dirty="0">
              <a:solidFill>
                <a:schemeClr val="tx1"/>
              </a:solidFill>
              <a:latin typeface="Aldrich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>
            <a:spLocks noGrp="1"/>
          </p:cNvSpPr>
          <p:nvPr>
            <p:ph type="title"/>
          </p:nvPr>
        </p:nvSpPr>
        <p:spPr>
          <a:xfrm>
            <a:off x="719999" y="15104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3 Main Features</a:t>
            </a:r>
            <a:endParaRPr dirty="0"/>
          </a:p>
        </p:txBody>
      </p:sp>
      <p:graphicFrame>
        <p:nvGraphicFramePr>
          <p:cNvPr id="351" name="Google Shape;351;p30"/>
          <p:cNvGraphicFramePr/>
          <p:nvPr>
            <p:extLst>
              <p:ext uri="{D42A27DB-BD31-4B8C-83A1-F6EECF244321}">
                <p14:modId xmlns:p14="http://schemas.microsoft.com/office/powerpoint/2010/main" val="1129944134"/>
              </p:ext>
            </p:extLst>
          </p:nvPr>
        </p:nvGraphicFramePr>
        <p:xfrm>
          <a:off x="1400518" y="2131309"/>
          <a:ext cx="6342961" cy="2107922"/>
        </p:xfrm>
        <a:graphic>
          <a:graphicData uri="http://schemas.openxmlformats.org/drawingml/2006/table">
            <a:tbl>
              <a:tblPr>
                <a:noFill/>
                <a:tableStyleId>{4A43E25C-6535-431A-938F-C50B8DA5FFEA}</a:tableStyleId>
              </a:tblPr>
              <a:tblGrid>
                <a:gridCol w="1932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5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none" baseline="0" dirty="0">
                          <a:solidFill>
                            <a:schemeClr val="hlink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Node graph</a:t>
                      </a:r>
                      <a:endParaRPr sz="1000" b="1" u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</a:t>
                      </a:r>
                      <a:r>
                        <a:rPr lang="en-GB" sz="1000" baseline="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size of the node is determined by complexity and it is colour coded by churn metrics.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69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baseline="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Contextual Blame </a:t>
                      </a:r>
                      <a:r>
                        <a:rPr lang="en-GB" sz="1000" b="1" u="none" dirty="0" err="1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Chatbot</a:t>
                      </a:r>
                      <a:endParaRPr sz="1000" b="1" u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It</a:t>
                      </a:r>
                      <a:r>
                        <a:rPr lang="en" sz="1000" baseline="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helps identify weaknesses, show past pull requests and author intentions.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69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u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Refactor</a:t>
                      </a:r>
                      <a:r>
                        <a:rPr lang="en-GB" sz="1000" b="1" u="none" baseline="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Sandbox</a:t>
                      </a:r>
                      <a:endParaRPr sz="1000" b="1" u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Previews</a:t>
                      </a:r>
                      <a:r>
                        <a:rPr lang="en-GB" sz="1000" baseline="0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modernised code side by side with legacy code.</a:t>
                      </a:r>
                      <a:endParaRPr sz="1000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Interactive Node Graph</a:t>
            </a:r>
            <a:endParaRPr dirty="0"/>
          </a:p>
        </p:txBody>
      </p:sp>
      <p:sp>
        <p:nvSpPr>
          <p:cNvPr id="388" name="Google Shape;388;p33"/>
          <p:cNvSpPr txBox="1">
            <a:spLocks noGrp="1"/>
          </p:cNvSpPr>
          <p:nvPr>
            <p:ph type="subTitle" idx="4"/>
          </p:nvPr>
        </p:nvSpPr>
        <p:spPr>
          <a:xfrm>
            <a:off x="751255" y="1667213"/>
            <a:ext cx="2348100" cy="5765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NODES</a:t>
            </a:r>
            <a:endParaRPr dirty="0"/>
          </a:p>
        </p:txBody>
      </p:sp>
      <p:sp>
        <p:nvSpPr>
          <p:cNvPr id="390" name="Google Shape;390;p33"/>
          <p:cNvSpPr txBox="1">
            <a:spLocks noGrp="1"/>
          </p:cNvSpPr>
          <p:nvPr>
            <p:ph type="subTitle" idx="1"/>
          </p:nvPr>
        </p:nvSpPr>
        <p:spPr>
          <a:xfrm>
            <a:off x="771654" y="2127483"/>
            <a:ext cx="2307302" cy="2582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b="1" dirty="0"/>
              <a:t>Problem: </a:t>
            </a:r>
            <a:r>
              <a:rPr lang="en-GB" dirty="0"/>
              <a:t>Code smells, anti-patterns, and tech debt remain hidden across nested directories. </a:t>
            </a:r>
          </a:p>
          <a:p>
            <a:pPr marL="0" lvl="0" indent="0" algn="l"/>
            <a:endParaRPr lang="en-GB" dirty="0"/>
          </a:p>
          <a:p>
            <a:pPr marL="0" lvl="0" indent="0" algn="l"/>
            <a:r>
              <a:rPr lang="en-GB" b="1" dirty="0"/>
              <a:t>Solution:</a:t>
            </a:r>
            <a:r>
              <a:rPr lang="en-GB" dirty="0"/>
              <a:t> Files are shown as interactive nodes on an HTML5 canvas. The node size signifies </a:t>
            </a:r>
            <a:r>
              <a:rPr lang="en-GB" dirty="0" err="1"/>
              <a:t>cyclomatic</a:t>
            </a:r>
            <a:r>
              <a:rPr lang="en-GB" dirty="0"/>
              <a:t> complexity and colour relates to code churn metrics. This makes problem code modules visually stand out.</a:t>
            </a:r>
            <a:endParaRPr dirty="0"/>
          </a:p>
        </p:txBody>
      </p:sp>
      <p:sp>
        <p:nvSpPr>
          <p:cNvPr id="12" name="Google Shape;387;p33"/>
          <p:cNvSpPr txBox="1">
            <a:spLocks/>
          </p:cNvSpPr>
          <p:nvPr/>
        </p:nvSpPr>
        <p:spPr>
          <a:xfrm>
            <a:off x="356761" y="254382"/>
            <a:ext cx="6625760" cy="41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/>
            <a:r>
              <a:rPr lang="en-GB" sz="1800" dirty="0"/>
              <a:t>IN-DEPTH LOOK:</a:t>
            </a:r>
            <a:endParaRPr lang="en-IN" sz="1800" dirty="0"/>
          </a:p>
        </p:txBody>
      </p:sp>
      <p:sp>
        <p:nvSpPr>
          <p:cNvPr id="19" name="Google Shape;388;p33"/>
          <p:cNvSpPr txBox="1">
            <a:spLocks noGrp="1"/>
          </p:cNvSpPr>
          <p:nvPr>
            <p:ph type="subTitle" idx="4"/>
          </p:nvPr>
        </p:nvSpPr>
        <p:spPr>
          <a:xfrm>
            <a:off x="6075900" y="1667212"/>
            <a:ext cx="2348100" cy="5765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LINES</a:t>
            </a:r>
            <a:endParaRPr dirty="0"/>
          </a:p>
        </p:txBody>
      </p:sp>
      <p:sp>
        <p:nvSpPr>
          <p:cNvPr id="20" name="Google Shape;390;p33"/>
          <p:cNvSpPr txBox="1">
            <a:spLocks noGrp="1"/>
          </p:cNvSpPr>
          <p:nvPr>
            <p:ph type="subTitle" idx="1"/>
          </p:nvPr>
        </p:nvSpPr>
        <p:spPr>
          <a:xfrm>
            <a:off x="6243638" y="2127483"/>
            <a:ext cx="1992969" cy="2582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/>
            <a:r>
              <a:rPr lang="en-GB" b="1" dirty="0"/>
              <a:t>Problem: </a:t>
            </a:r>
            <a:r>
              <a:rPr lang="en-GB" dirty="0"/>
              <a:t>Modifying closely linked components often leads to unexpected problems across its linked systems.</a:t>
            </a:r>
          </a:p>
          <a:p>
            <a:pPr marL="0" lvl="0" indent="0" algn="r"/>
            <a:endParaRPr lang="en-GB" dirty="0"/>
          </a:p>
          <a:p>
            <a:pPr marL="0" lvl="0" indent="0" algn="r"/>
            <a:r>
              <a:rPr lang="en-GB" dirty="0"/>
              <a:t> </a:t>
            </a:r>
            <a:r>
              <a:rPr lang="en-GB" b="1" dirty="0"/>
              <a:t>Solution: </a:t>
            </a:r>
            <a:r>
              <a:rPr lang="en-GB" dirty="0"/>
              <a:t>By rendering directional dependency links between nodes, they can map exactly what code sections will be impacted prior to refactoring.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4C75E0-F3C5-F054-375B-6399A2C8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614" y="1667212"/>
            <a:ext cx="2988164" cy="2959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>
            <a:spLocks noGrp="1"/>
          </p:cNvSpPr>
          <p:nvPr>
            <p:ph type="title"/>
          </p:nvPr>
        </p:nvSpPr>
        <p:spPr>
          <a:xfrm>
            <a:off x="0" y="1204082"/>
            <a:ext cx="59287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dirty="0"/>
              <a:t>Contextual Blame Chatbot</a:t>
            </a:r>
            <a:endParaRPr dirty="0"/>
          </a:p>
        </p:txBody>
      </p:sp>
      <p:sp>
        <p:nvSpPr>
          <p:cNvPr id="390" name="Google Shape;390;p33"/>
          <p:cNvSpPr txBox="1">
            <a:spLocks noGrp="1"/>
          </p:cNvSpPr>
          <p:nvPr>
            <p:ph type="subTitle" idx="1"/>
          </p:nvPr>
        </p:nvSpPr>
        <p:spPr>
          <a:xfrm>
            <a:off x="1119027" y="1776782"/>
            <a:ext cx="4584350" cy="25820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b="1" dirty="0"/>
              <a:t>Problem:</a:t>
            </a:r>
            <a:r>
              <a:rPr lang="en-GB" dirty="0"/>
              <a:t> New </a:t>
            </a:r>
            <a:r>
              <a:rPr lang="en-GB" dirty="0" err="1"/>
              <a:t>devs</a:t>
            </a:r>
            <a:r>
              <a:rPr lang="en-GB" dirty="0"/>
              <a:t> coming into into legacy codebases have to manually trace logs (git log, git blame) to know original author intent and all the previous structural shifts. </a:t>
            </a:r>
          </a:p>
          <a:p>
            <a:pPr marL="0" lvl="0" indent="0" algn="l"/>
            <a:endParaRPr lang="en-GB" dirty="0"/>
          </a:p>
          <a:p>
            <a:pPr marL="0" lvl="0" indent="0" algn="l"/>
            <a:r>
              <a:rPr lang="en-GB" b="1" dirty="0"/>
              <a:t>Solution: </a:t>
            </a:r>
            <a:r>
              <a:rPr lang="en-GB" dirty="0"/>
              <a:t>This architecture allows to view source code with version history. By feeding file snapshots, version histories, and line-by-line blame metadata into an LLM context window, developers can run chat queries directly against a file's lineage right inside the website.</a:t>
            </a:r>
            <a:endParaRPr dirty="0"/>
          </a:p>
        </p:txBody>
      </p:sp>
      <p:sp>
        <p:nvSpPr>
          <p:cNvPr id="12" name="Google Shape;387;p33"/>
          <p:cNvSpPr txBox="1">
            <a:spLocks/>
          </p:cNvSpPr>
          <p:nvPr/>
        </p:nvSpPr>
        <p:spPr>
          <a:xfrm>
            <a:off x="356761" y="254382"/>
            <a:ext cx="6625760" cy="41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/>
            <a:r>
              <a:rPr lang="en-GB" sz="1800" dirty="0"/>
              <a:t>IN-DEPTH LOOK: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E716FB-1260-EC1E-DF21-9413D53C4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865" y="1106308"/>
            <a:ext cx="2014108" cy="336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1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Refactor Sandbox</a:t>
            </a:r>
            <a:endParaRPr dirty="0"/>
          </a:p>
        </p:txBody>
      </p:sp>
      <p:sp>
        <p:nvSpPr>
          <p:cNvPr id="390" name="Google Shape;390;p33"/>
          <p:cNvSpPr txBox="1">
            <a:spLocks noGrp="1"/>
          </p:cNvSpPr>
          <p:nvPr>
            <p:ph type="subTitle" idx="1"/>
          </p:nvPr>
        </p:nvSpPr>
        <p:spPr>
          <a:xfrm>
            <a:off x="5709939" y="1398725"/>
            <a:ext cx="2545164" cy="3135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dirty="0"/>
              <a:t>When an engine node is selected, a split pane view opens up.</a:t>
            </a:r>
          </a:p>
          <a:p>
            <a:pPr marL="0" lvl="0" indent="0" algn="l"/>
            <a:endParaRPr lang="en-GB" dirty="0"/>
          </a:p>
          <a:p>
            <a:pPr marL="0" lvl="0" indent="0" algn="l"/>
            <a:r>
              <a:rPr lang="en-GB" b="1" dirty="0"/>
              <a:t>Left Window: </a:t>
            </a:r>
            <a:r>
              <a:rPr lang="en-GB" dirty="0"/>
              <a:t>Automatically mounts in a read-only configuration, displaying the legacy file contents retrieved from the data contract. </a:t>
            </a:r>
          </a:p>
          <a:p>
            <a:pPr marL="0" lvl="0" indent="0" algn="l"/>
            <a:endParaRPr lang="en-GB" dirty="0"/>
          </a:p>
          <a:p>
            <a:pPr marL="0" lvl="0" indent="0" algn="l"/>
            <a:r>
              <a:rPr lang="en-GB" b="1" dirty="0"/>
              <a:t>Right Window: </a:t>
            </a:r>
            <a:r>
              <a:rPr lang="en-GB" dirty="0"/>
              <a:t>Placed side-by-side to serve as a modification sandbox, this pane Renders proposed refactoring changes with full syntax support. </a:t>
            </a:r>
          </a:p>
        </p:txBody>
      </p:sp>
      <p:sp>
        <p:nvSpPr>
          <p:cNvPr id="12" name="Google Shape;387;p33"/>
          <p:cNvSpPr txBox="1">
            <a:spLocks/>
          </p:cNvSpPr>
          <p:nvPr/>
        </p:nvSpPr>
        <p:spPr>
          <a:xfrm>
            <a:off x="356761" y="254382"/>
            <a:ext cx="6625760" cy="41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/>
            <a:r>
              <a:rPr lang="en-GB" sz="1800" dirty="0"/>
              <a:t>IN-DEPTH LOOK:</a:t>
            </a:r>
            <a:endParaRPr lang="en-IN" sz="1800" dirty="0"/>
          </a:p>
        </p:txBody>
      </p:sp>
      <p:sp>
        <p:nvSpPr>
          <p:cNvPr id="3" name="AutoShape 2" descr="blob:https://web.whatsapp.com/948327c8-2307-46b3-89ca-b68588213ff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03" y="1550982"/>
            <a:ext cx="4609909" cy="280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4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>
            <a:spLocks noGrp="1"/>
          </p:cNvSpPr>
          <p:nvPr>
            <p:ph type="title"/>
          </p:nvPr>
        </p:nvSpPr>
        <p:spPr>
          <a:xfrm>
            <a:off x="720000" y="826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System Fonts and Designs</a:t>
            </a:r>
            <a:endParaRPr dirty="0"/>
          </a:p>
        </p:txBody>
      </p:sp>
      <p:sp>
        <p:nvSpPr>
          <p:cNvPr id="390" name="Google Shape;390;p33"/>
          <p:cNvSpPr txBox="1">
            <a:spLocks noGrp="1"/>
          </p:cNvSpPr>
          <p:nvPr>
            <p:ph type="subTitle" idx="1"/>
          </p:nvPr>
        </p:nvSpPr>
        <p:spPr>
          <a:xfrm>
            <a:off x="902282" y="1639344"/>
            <a:ext cx="4212858" cy="2932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b="1" dirty="0"/>
              <a:t>Canvas Background: </a:t>
            </a:r>
            <a:r>
              <a:rPr lang="en-GB" dirty="0"/>
              <a:t>Low-contrast, flat warm grey shades (#F7F7F2 or #EFEFE9).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b="1" dirty="0"/>
              <a:t>Component Borders: </a:t>
            </a:r>
            <a:r>
              <a:rPr lang="en-GB" dirty="0"/>
              <a:t>Fine, single-pixel grey lines (#D4D4CC), no heavy Drop Shadows or dark card backdrops.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b="1" dirty="0"/>
              <a:t>Typography Hierarchy: </a:t>
            </a:r>
            <a:r>
              <a:rPr lang="en-GB" dirty="0"/>
              <a:t>Renders high-legibility fonts for controls, sidebar labels, and metadata readouts. Monospace layout treatments are strictly restricted to code viewports.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GB" b="1" dirty="0"/>
              <a:t>Graph Complexity Nodes: </a:t>
            </a:r>
            <a:r>
              <a:rPr lang="en-GB" dirty="0"/>
              <a:t>Green marks low complexity, Transitional colours (like yellow) flags moderate structural debt, and Red highlights high-risk files. </a:t>
            </a:r>
            <a:endParaRPr dirty="0"/>
          </a:p>
        </p:txBody>
      </p:sp>
      <p:sp>
        <p:nvSpPr>
          <p:cNvPr id="12" name="Google Shape;387;p33"/>
          <p:cNvSpPr txBox="1">
            <a:spLocks/>
          </p:cNvSpPr>
          <p:nvPr/>
        </p:nvSpPr>
        <p:spPr>
          <a:xfrm>
            <a:off x="356761" y="233756"/>
            <a:ext cx="6625760" cy="419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drich"/>
              <a:buNone/>
              <a:defRPr sz="28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 sz="30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l"/>
            <a:r>
              <a:rPr lang="en-GB" sz="1800" dirty="0"/>
              <a:t>UI-UX STYLES: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166ED8-9F9E-7964-B01A-C10F65D1F2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571"/>
          <a:stretch>
            <a:fillRect/>
          </a:stretch>
        </p:blipFill>
        <p:spPr>
          <a:xfrm>
            <a:off x="5175651" y="1752710"/>
            <a:ext cx="3248349" cy="270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723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76;p32"/>
          <p:cNvSpPr txBox="1">
            <a:spLocks noGrp="1"/>
          </p:cNvSpPr>
          <p:nvPr>
            <p:ph type="title"/>
          </p:nvPr>
        </p:nvSpPr>
        <p:spPr>
          <a:xfrm>
            <a:off x="1471612" y="747708"/>
            <a:ext cx="5965031" cy="6962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/>
              <a:t>Prospective User Base</a:t>
            </a:r>
            <a:endParaRPr sz="3200" dirty="0"/>
          </a:p>
        </p:txBody>
      </p:sp>
      <p:grpSp>
        <p:nvGrpSpPr>
          <p:cNvPr id="21" name="Group 20"/>
          <p:cNvGrpSpPr/>
          <p:nvPr/>
        </p:nvGrpSpPr>
        <p:grpSpPr>
          <a:xfrm>
            <a:off x="1144919" y="1508273"/>
            <a:ext cx="1124182" cy="1078569"/>
            <a:chOff x="6234099" y="1887913"/>
            <a:chExt cx="1243823" cy="1243823"/>
          </a:xfrm>
        </p:grpSpPr>
        <p:grpSp>
          <p:nvGrpSpPr>
            <p:cNvPr id="22" name="Google Shape;379;p32"/>
            <p:cNvGrpSpPr/>
            <p:nvPr/>
          </p:nvGrpSpPr>
          <p:grpSpPr>
            <a:xfrm>
              <a:off x="6234099" y="1887913"/>
              <a:ext cx="1243823" cy="1243823"/>
              <a:chOff x="4653650" y="1256600"/>
              <a:chExt cx="1625700" cy="1625700"/>
            </a:xfrm>
          </p:grpSpPr>
          <p:sp>
            <p:nvSpPr>
              <p:cNvPr id="24" name="Google Shape;380;p32"/>
              <p:cNvSpPr/>
              <p:nvPr/>
            </p:nvSpPr>
            <p:spPr>
              <a:xfrm>
                <a:off x="4653650" y="1256600"/>
                <a:ext cx="1625700" cy="16257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5" name="Google Shape;381;p32"/>
              <p:cNvSpPr/>
              <p:nvPr/>
            </p:nvSpPr>
            <p:spPr>
              <a:xfrm>
                <a:off x="4653650" y="1256600"/>
                <a:ext cx="1625700" cy="159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3" name="Google Shape;382;p32"/>
            <p:cNvSpPr/>
            <p:nvPr/>
          </p:nvSpPr>
          <p:spPr>
            <a:xfrm>
              <a:off x="6529934" y="2244804"/>
              <a:ext cx="652151" cy="652151"/>
            </a:xfrm>
            <a:custGeom>
              <a:avLst/>
              <a:gdLst/>
              <a:ahLst/>
              <a:cxnLst/>
              <a:rect l="l" t="t" r="r" b="b"/>
              <a:pathLst>
                <a:path w="1618" h="1618" extrusionOk="0">
                  <a:moveTo>
                    <a:pt x="1492" y="1491"/>
                  </a:moveTo>
                  <a:lnTo>
                    <a:pt x="1245" y="1491"/>
                  </a:lnTo>
                  <a:lnTo>
                    <a:pt x="1245" y="1057"/>
                  </a:lnTo>
                  <a:cubicBezTo>
                    <a:pt x="1245" y="1022"/>
                    <a:pt x="1217" y="994"/>
                    <a:pt x="1182" y="994"/>
                  </a:cubicBezTo>
                  <a:lnTo>
                    <a:pt x="436" y="994"/>
                  </a:lnTo>
                  <a:cubicBezTo>
                    <a:pt x="401" y="994"/>
                    <a:pt x="373" y="1022"/>
                    <a:pt x="373" y="1057"/>
                  </a:cubicBezTo>
                  <a:lnTo>
                    <a:pt x="373" y="1491"/>
                  </a:lnTo>
                  <a:lnTo>
                    <a:pt x="126" y="1491"/>
                  </a:lnTo>
                  <a:lnTo>
                    <a:pt x="126" y="1430"/>
                  </a:lnTo>
                  <a:cubicBezTo>
                    <a:pt x="126" y="1154"/>
                    <a:pt x="290" y="914"/>
                    <a:pt x="530" y="807"/>
                  </a:cubicBezTo>
                  <a:cubicBezTo>
                    <a:pt x="692" y="934"/>
                    <a:pt x="923" y="936"/>
                    <a:pt x="1088" y="807"/>
                  </a:cubicBezTo>
                  <a:cubicBezTo>
                    <a:pt x="1328" y="914"/>
                    <a:pt x="1492" y="1154"/>
                    <a:pt x="1492" y="1430"/>
                  </a:cubicBezTo>
                  <a:lnTo>
                    <a:pt x="1492" y="1491"/>
                  </a:lnTo>
                  <a:moveTo>
                    <a:pt x="499" y="1120"/>
                  </a:moveTo>
                  <a:lnTo>
                    <a:pt x="1119" y="1120"/>
                  </a:lnTo>
                  <a:lnTo>
                    <a:pt x="1119" y="1491"/>
                  </a:lnTo>
                  <a:lnTo>
                    <a:pt x="499" y="1491"/>
                  </a:lnTo>
                  <a:lnTo>
                    <a:pt x="499" y="1120"/>
                  </a:lnTo>
                  <a:moveTo>
                    <a:pt x="809" y="127"/>
                  </a:moveTo>
                  <a:cubicBezTo>
                    <a:pt x="912" y="127"/>
                    <a:pt x="1004" y="174"/>
                    <a:pt x="1063" y="249"/>
                  </a:cubicBezTo>
                  <a:lnTo>
                    <a:pt x="555" y="249"/>
                  </a:lnTo>
                  <a:cubicBezTo>
                    <a:pt x="615" y="175"/>
                    <a:pt x="706" y="127"/>
                    <a:pt x="809" y="127"/>
                  </a:cubicBezTo>
                  <a:moveTo>
                    <a:pt x="872" y="375"/>
                  </a:moveTo>
                  <a:cubicBezTo>
                    <a:pt x="873" y="375"/>
                    <a:pt x="1171" y="376"/>
                    <a:pt x="1172" y="376"/>
                  </a:cubicBezTo>
                  <a:cubicBezTo>
                    <a:pt x="1177" y="376"/>
                    <a:pt x="1181" y="380"/>
                    <a:pt x="1181" y="385"/>
                  </a:cubicBezTo>
                  <a:cubicBezTo>
                    <a:pt x="1181" y="521"/>
                    <a:pt x="1015" y="591"/>
                    <a:pt x="918" y="494"/>
                  </a:cubicBezTo>
                  <a:cubicBezTo>
                    <a:pt x="865" y="442"/>
                    <a:pt x="873" y="379"/>
                    <a:pt x="872" y="375"/>
                  </a:cubicBezTo>
                  <a:moveTo>
                    <a:pt x="562" y="663"/>
                  </a:moveTo>
                  <a:cubicBezTo>
                    <a:pt x="658" y="673"/>
                    <a:pt x="749" y="634"/>
                    <a:pt x="809" y="561"/>
                  </a:cubicBezTo>
                  <a:cubicBezTo>
                    <a:pt x="869" y="634"/>
                    <a:pt x="960" y="673"/>
                    <a:pt x="1056" y="663"/>
                  </a:cubicBezTo>
                  <a:cubicBezTo>
                    <a:pt x="925" y="815"/>
                    <a:pt x="692" y="814"/>
                    <a:pt x="562" y="663"/>
                  </a:cubicBezTo>
                  <a:moveTo>
                    <a:pt x="701" y="494"/>
                  </a:moveTo>
                  <a:cubicBezTo>
                    <a:pt x="603" y="591"/>
                    <a:pt x="437" y="521"/>
                    <a:pt x="437" y="385"/>
                  </a:cubicBezTo>
                  <a:cubicBezTo>
                    <a:pt x="437" y="380"/>
                    <a:pt x="441" y="375"/>
                    <a:pt x="446" y="375"/>
                  </a:cubicBezTo>
                  <a:lnTo>
                    <a:pt x="746" y="375"/>
                  </a:lnTo>
                  <a:cubicBezTo>
                    <a:pt x="745" y="379"/>
                    <a:pt x="753" y="442"/>
                    <a:pt x="701" y="494"/>
                  </a:cubicBezTo>
                  <a:moveTo>
                    <a:pt x="1179" y="710"/>
                  </a:moveTo>
                  <a:cubicBezTo>
                    <a:pt x="1212" y="664"/>
                    <a:pt x="1235" y="612"/>
                    <a:pt x="1249" y="556"/>
                  </a:cubicBezTo>
                  <a:cubicBezTo>
                    <a:pt x="1287" y="508"/>
                    <a:pt x="1307" y="447"/>
                    <a:pt x="1307" y="385"/>
                  </a:cubicBezTo>
                  <a:cubicBezTo>
                    <a:pt x="1307" y="326"/>
                    <a:pt x="1269" y="275"/>
                    <a:pt x="1216" y="257"/>
                  </a:cubicBezTo>
                  <a:cubicBezTo>
                    <a:pt x="1143" y="104"/>
                    <a:pt x="988" y="0"/>
                    <a:pt x="809" y="0"/>
                  </a:cubicBezTo>
                  <a:cubicBezTo>
                    <a:pt x="631" y="0"/>
                    <a:pt x="475" y="104"/>
                    <a:pt x="402" y="257"/>
                  </a:cubicBezTo>
                  <a:cubicBezTo>
                    <a:pt x="349" y="275"/>
                    <a:pt x="311" y="326"/>
                    <a:pt x="311" y="385"/>
                  </a:cubicBezTo>
                  <a:cubicBezTo>
                    <a:pt x="311" y="447"/>
                    <a:pt x="332" y="508"/>
                    <a:pt x="370" y="556"/>
                  </a:cubicBezTo>
                  <a:cubicBezTo>
                    <a:pt x="383" y="612"/>
                    <a:pt x="406" y="664"/>
                    <a:pt x="439" y="710"/>
                  </a:cubicBezTo>
                  <a:cubicBezTo>
                    <a:pt x="178" y="844"/>
                    <a:pt x="0" y="1117"/>
                    <a:pt x="0" y="1430"/>
                  </a:cubicBezTo>
                  <a:lnTo>
                    <a:pt x="0" y="1554"/>
                  </a:lnTo>
                  <a:cubicBezTo>
                    <a:pt x="0" y="1589"/>
                    <a:pt x="28" y="1618"/>
                    <a:pt x="63" y="1618"/>
                  </a:cubicBezTo>
                  <a:lnTo>
                    <a:pt x="1555" y="1618"/>
                  </a:lnTo>
                  <a:cubicBezTo>
                    <a:pt x="1590" y="1618"/>
                    <a:pt x="1618" y="1589"/>
                    <a:pt x="1618" y="1554"/>
                  </a:cubicBezTo>
                  <a:lnTo>
                    <a:pt x="1618" y="1430"/>
                  </a:lnTo>
                  <a:cubicBezTo>
                    <a:pt x="1618" y="1117"/>
                    <a:pt x="1440" y="845"/>
                    <a:pt x="1179" y="7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2343598" y="1462783"/>
            <a:ext cx="603193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1. </a:t>
            </a:r>
            <a:r>
              <a:rPr lang="en-GB" b="1" dirty="0" err="1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Onboarding</a:t>
            </a:r>
            <a:r>
              <a:rPr lang="en-GB" b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Developer:</a:t>
            </a:r>
          </a:p>
          <a:p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They don't know which files are dangerous to touch or why certain decisions were made in years-old codebases.</a:t>
            </a:r>
          </a:p>
          <a:p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So they can use the </a:t>
            </a:r>
            <a:r>
              <a:rPr lang="en-GB" b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Node Graph</a:t>
            </a:r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to see the "hotspots" and the </a:t>
            </a:r>
            <a:r>
              <a:rPr lang="en-GB" b="1" dirty="0" err="1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Chatbot</a:t>
            </a:r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to ask, </a:t>
            </a:r>
            <a:r>
              <a:rPr lang="en-GB" i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"Why is this logic so complex?"</a:t>
            </a:r>
            <a:endParaRPr lang="en-GB" dirty="0">
              <a:solidFill>
                <a:schemeClr val="tx1"/>
              </a:solidFill>
              <a:latin typeface="Open Sans" panose="020B0604020202020204" charset="0"/>
              <a:ea typeface="Open Sans" panose="020B0604020202020204" charset="0"/>
              <a:cs typeface="Open Sans" panose="020B06040202020202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4919" y="2949921"/>
            <a:ext cx="291987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2. Mergers &amp; Acquisitions:</a:t>
            </a:r>
          </a:p>
          <a:p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When a big company buys a smaller </a:t>
            </a:r>
            <a:r>
              <a:rPr lang="en-GB" dirty="0" err="1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startup</a:t>
            </a:r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, they need to audit the code quality quickly. So they plug the </a:t>
            </a:r>
            <a:r>
              <a:rPr lang="en-GB" dirty="0" err="1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startup's</a:t>
            </a:r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 repo into the dashboard to instantly see the </a:t>
            </a:r>
            <a:r>
              <a:rPr lang="en-GB" b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Complexity vs. Churn</a:t>
            </a:r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ratio.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7681" y="2949921"/>
            <a:ext cx="40005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3. Tech Leads &amp; Software Architects:</a:t>
            </a:r>
          </a:p>
          <a:p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They know the system has technical debt, but they can't easily show it to management to justify a refactor.</a:t>
            </a:r>
          </a:p>
          <a:p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So they use the </a:t>
            </a:r>
            <a:r>
              <a:rPr lang="en-GB" b="1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Visual Risk Map</a:t>
            </a:r>
            <a:r>
              <a:rPr lang="en-GB" dirty="0">
                <a:solidFill>
                  <a:schemeClr val="tx1"/>
                </a:solidFill>
                <a:latin typeface="Open Sans" panose="020B0604020202020204" charset="0"/>
                <a:ea typeface="Open Sans" panose="020B0604020202020204" charset="0"/>
                <a:cs typeface="Open Sans" panose="020B0604020202020204" charset="0"/>
              </a:rPr>
              <a:t> (Red vs. Green nodes) to instantly show stakeholders where the weak parts of the system 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"/>
          <p:cNvSpPr txBox="1">
            <a:spLocks noGrp="1"/>
          </p:cNvSpPr>
          <p:nvPr>
            <p:ph type="title"/>
          </p:nvPr>
        </p:nvSpPr>
        <p:spPr>
          <a:xfrm>
            <a:off x="720000" y="121791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/>
              <a:t>Conclusion</a:t>
            </a:r>
            <a:endParaRPr dirty="0"/>
          </a:p>
        </p:txBody>
      </p:sp>
      <p:sp>
        <p:nvSpPr>
          <p:cNvPr id="446" name="Google Shape;446;p36"/>
          <p:cNvSpPr txBox="1">
            <a:spLocks noGrp="1"/>
          </p:cNvSpPr>
          <p:nvPr>
            <p:ph type="body" idx="1"/>
          </p:nvPr>
        </p:nvSpPr>
        <p:spPr>
          <a:xfrm>
            <a:off x="1512181" y="1873113"/>
            <a:ext cx="6119638" cy="26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GB" sz="1400" dirty="0"/>
              <a:t>Our dashboard shows live updates and their intentions. The insights already exist in Git; the dashboard surfaces them.</a:t>
            </a:r>
          </a:p>
          <a:p>
            <a:pPr marL="152400" indent="0">
              <a:buNone/>
            </a:pPr>
            <a:endParaRPr lang="en-GB" sz="1400" dirty="0"/>
          </a:p>
          <a:p>
            <a:r>
              <a:rPr lang="en-GB" sz="1400" dirty="0"/>
              <a:t>Engineers, leads, and PMs share the same info that always stays up to date. </a:t>
            </a:r>
          </a:p>
          <a:p>
            <a:r>
              <a:rPr lang="en-GB" sz="1400" dirty="0"/>
              <a:t>It helps in early bottleneck detection and incentivises people to fix or remove it instead of frequent patching.</a:t>
            </a:r>
            <a:endParaRPr lang="en-GB" sz="1400" b="1" dirty="0"/>
          </a:p>
          <a:p>
            <a:r>
              <a:rPr lang="en-GB" sz="1400" dirty="0"/>
              <a:t>It allows developers to focus on writing code instead of creating status updates.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6"/>
          <p:cNvSpPr txBox="1">
            <a:spLocks noGrp="1"/>
          </p:cNvSpPr>
          <p:nvPr>
            <p:ph type="title"/>
          </p:nvPr>
        </p:nvSpPr>
        <p:spPr>
          <a:xfrm>
            <a:off x="719960" y="16790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dirty="0"/>
              <a:t>Thanks!</a:t>
            </a:r>
            <a:endParaRPr dirty="0"/>
          </a:p>
        </p:txBody>
      </p:sp>
      <p:grpSp>
        <p:nvGrpSpPr>
          <p:cNvPr id="3" name="Group 2"/>
          <p:cNvGrpSpPr/>
          <p:nvPr/>
        </p:nvGrpSpPr>
        <p:grpSpPr>
          <a:xfrm>
            <a:off x="2717470" y="2366463"/>
            <a:ext cx="3708979" cy="1628400"/>
            <a:chOff x="1899643" y="1898950"/>
            <a:chExt cx="3708979" cy="1628400"/>
          </a:xfrm>
        </p:grpSpPr>
        <p:sp>
          <p:nvSpPr>
            <p:cNvPr id="5" name="Google Shape;621;p48"/>
            <p:cNvSpPr txBox="1">
              <a:spLocks/>
            </p:cNvSpPr>
            <p:nvPr/>
          </p:nvSpPr>
          <p:spPr>
            <a:xfrm>
              <a:off x="1899643" y="2058550"/>
              <a:ext cx="3708900" cy="1468800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Nunito Light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9pPr>
            </a:lstStyle>
            <a:p>
              <a:pPr marL="0" indent="0" algn="ctr">
                <a:buFont typeface="Nunito Light"/>
                <a:buNone/>
              </a:pPr>
              <a:r>
                <a:rPr lang="en-GB" dirty="0"/>
                <a:t>Working on this project was a wonderful opportunity and we had a lot of fun as well as learnt new skills </a:t>
              </a:r>
              <a:r>
                <a:rPr lang="en-GB" dirty="0">
                  <a:sym typeface="Wingdings" panose="05000000000000000000" pitchFamily="2" charset="2"/>
                </a:rPr>
                <a:t></a:t>
              </a:r>
              <a:r>
                <a:rPr lang="en-GB" dirty="0"/>
                <a:t> </a:t>
              </a:r>
            </a:p>
          </p:txBody>
        </p:sp>
        <p:sp>
          <p:nvSpPr>
            <p:cNvPr id="6" name="Google Shape;624;p48"/>
            <p:cNvSpPr/>
            <p:nvPr/>
          </p:nvSpPr>
          <p:spPr>
            <a:xfrm>
              <a:off x="1899643" y="1898950"/>
              <a:ext cx="3708979" cy="1596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027947"/>
      </p:ext>
    </p:extLst>
  </p:cSld>
  <p:clrMapOvr>
    <a:masterClrMapping/>
  </p:clrMapOvr>
</p:sld>
</file>

<file path=ppt/theme/theme1.xml><?xml version="1.0" encoding="utf-8"?>
<a:theme xmlns:a="http://schemas.openxmlformats.org/drawingml/2006/main" name="Senior Frontend Developer Portfolio by Slidesgo">
  <a:themeElements>
    <a:clrScheme name="Simple Light">
      <a:dk1>
        <a:srgbClr val="FFFFFF"/>
      </a:dk1>
      <a:lt1>
        <a:srgbClr val="292828"/>
      </a:lt1>
      <a:dk2>
        <a:srgbClr val="A67FF1"/>
      </a:dk2>
      <a:lt2>
        <a:srgbClr val="F5B150"/>
      </a:lt2>
      <a:accent1>
        <a:srgbClr val="C0E67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671</Words>
  <Application>Microsoft Office PowerPoint</Application>
  <PresentationFormat>On-screen Show (16:9)</PresentationFormat>
  <Paragraphs>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Nunito Light</vt:lpstr>
      <vt:lpstr>Arial</vt:lpstr>
      <vt:lpstr>Aldrich</vt:lpstr>
      <vt:lpstr>Wingdings</vt:lpstr>
      <vt:lpstr>Open Sans</vt:lpstr>
      <vt:lpstr>Senior Frontend Developer Portfolio by Slidesgo</vt:lpstr>
      <vt:lpstr>Git Dashboard:</vt:lpstr>
      <vt:lpstr>The 3 Main Features</vt:lpstr>
      <vt:lpstr>Interactive Node Graph</vt:lpstr>
      <vt:lpstr>Contextual Blame Chatbot</vt:lpstr>
      <vt:lpstr>Refactor Sandbox</vt:lpstr>
      <vt:lpstr>System Fonts and Designs</vt:lpstr>
      <vt:lpstr>Prospective User Base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Dashboard: a site for developers</dc:title>
  <dc:creator>Infinix22</dc:creator>
  <cp:lastModifiedBy>Dr. Srabani Das</cp:lastModifiedBy>
  <cp:revision>28</cp:revision>
  <dcterms:modified xsi:type="dcterms:W3CDTF">2026-07-11T05:14:08Z</dcterms:modified>
</cp:coreProperties>
</file>